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DE1E-EE7A-C191-D360-158518DB2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39B2F-72FD-04D2-9480-8C831CC5C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04403-1726-7C11-46CD-CBE06DE8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B87A0-CD8F-4C8E-B54D-8875A85A5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D6DAF-44D7-F0A0-16E1-20E16C22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9190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72E0-DE8B-2AD3-1351-CC153828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FE894-87C1-0406-74D2-4939720D2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4E92C-0DB8-3087-EDBF-26DCBA06C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7F742-80DD-2520-DD89-5310D08B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055F2-791E-1334-DE5D-F9FECEE2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8043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00D93-759B-8F16-8A5E-534DE18B8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8E20D-25D7-477A-106F-5B7BC761D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36CDD-ABBC-9CA5-D5F6-0E280226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B9BE5-902D-6254-63EE-4A592BA9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E75C0-EECC-7503-3767-74A5D4D9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522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F855-70A9-9CDD-6C31-B8FB8BA9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B1BD3-71A1-9AC5-02E9-A5924EAC9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56D6D-4532-BF6F-9A2B-ECC608FE9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E527D-D8C7-B68F-48BA-A0D6AE16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21561-1F1C-1EF7-C3B7-74569F70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CEA19-ABEF-1D6E-B2A7-D80CDB37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2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CA13-5615-0688-C804-6FE5F0E5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80EF9-B56B-CEF4-8EE2-98DDF11E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02A3-7026-59F2-8D53-EB21B37F1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5DF23-16D0-85D5-55F8-AF119CA05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FD805-E51C-65D6-880B-E6A40315F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CD87E-3088-4F1C-0CF3-5DA1D54F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2AE8E-4078-AAC9-52F1-ACD6AC6E3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4339A-640E-21D8-7235-B53EFC3F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9825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3B91-7127-FEA1-221F-B9B04B65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333A3-B111-4A3B-55D4-E2DDFC795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B24EE-446F-571A-6766-FBCB6E7A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79C5A-0417-713B-5E1E-FF5297B8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835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2E342C-AE54-1DF9-91D5-DC90B5EB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BABD3-1959-1FED-C2CE-7FF2E697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B815C-2ED4-1122-5956-66351E5D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0851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01DF-3D47-D2F0-8F9A-28BB133C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C8008-DB4E-F6A7-C902-5B4180AEB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14C57-9789-9498-96A2-E101F0684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711D4-BFCA-51D3-0ECB-4B968922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D87F2-2631-CAB1-4215-C55ACAA2F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3F77D-A729-752C-EAD1-7CDBE5FB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8159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4F23-4CCD-D65D-FCFB-5249A7B27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C4A91-809E-DA59-B70B-6D0432106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BBCAA-B593-CB7A-3D44-1344A89DE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825A4-492B-56EB-2816-36E053DA9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06473-C5B4-AF23-FC25-503D3A00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75AC4-6D72-D3D6-07E3-9E0FBE87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7760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D8DB-DBEF-3ADA-A322-7DD8E7E3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F214A-B4D0-740B-4455-237685DE6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58B96-1B0E-FE0E-946F-572A3D90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F9F49-A361-1ADE-20E0-937E4E75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7FD62-EC60-8B8E-C858-D52C89BF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7217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B9EE6-515F-4295-C51F-F4BD6C9BD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7D8EF-046F-5A7C-ECA3-E9937F609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E0BC1-F6FD-CEA2-6AF5-089E0FF18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56090-1225-E39A-E732-C410636A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B3852-C686-9B95-A90A-BE71F34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363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BD31BF-E956-0290-887F-B35061EBA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4E881-F232-85A3-1B88-13629FF86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2ABC2-A900-AA81-0AE1-78EFA63CC9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9FAF6-AD90-45DE-A28A-7EE0969D71E4}" type="datetimeFigureOut">
              <a:rPr lang="en-MY" smtClean="0"/>
              <a:t>14/2/2026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03F1D-6A2A-AF26-5C1C-E5E955843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D50B7-A7E8-2082-16FE-029A61544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6A640-737D-4026-819D-C73EC16F296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986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858788-0844-8222-AD1C-8F8E6642B586}"/>
              </a:ext>
            </a:extLst>
          </p:cNvPr>
          <p:cNvSpPr txBox="1"/>
          <p:nvPr/>
        </p:nvSpPr>
        <p:spPr>
          <a:xfrm>
            <a:off x="1668379" y="1042738"/>
            <a:ext cx="88552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/>
              <a:t>Carbon-Aware SRAM Optimization via Simulation-Based Design-Space Exploration Subtitle </a:t>
            </a:r>
            <a:endParaRPr lang="en-MY" sz="2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1CD6D-C393-B12F-0B0B-04083FB91AFB}"/>
              </a:ext>
            </a:extLst>
          </p:cNvPr>
          <p:cNvSpPr txBox="1"/>
          <p:nvPr/>
        </p:nvSpPr>
        <p:spPr>
          <a:xfrm>
            <a:off x="2566738" y="2494366"/>
            <a:ext cx="7555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Minimizing CO2 Emissions Per Bit Access through Design-Space Mapping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18869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436AC7-E2BC-C879-5C58-C8A8770029C2}"/>
              </a:ext>
            </a:extLst>
          </p:cNvPr>
          <p:cNvSpPr txBox="1"/>
          <p:nvPr/>
        </p:nvSpPr>
        <p:spPr>
          <a:xfrm>
            <a:off x="1475873" y="513348"/>
            <a:ext cx="88552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Proposed Idea Flow Chart</a:t>
            </a:r>
            <a:endParaRPr lang="en-MY" sz="25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FCE67F-B1B7-0525-FE60-535CEE22C228}"/>
              </a:ext>
            </a:extLst>
          </p:cNvPr>
          <p:cNvSpPr/>
          <p:nvPr/>
        </p:nvSpPr>
        <p:spPr>
          <a:xfrm>
            <a:off x="737937" y="1572127"/>
            <a:ext cx="2855495" cy="185687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SRAM Simulation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75FA12-2F8E-4881-39B3-C50E4049AE7E}"/>
              </a:ext>
            </a:extLst>
          </p:cNvPr>
          <p:cNvSpPr/>
          <p:nvPr/>
        </p:nvSpPr>
        <p:spPr>
          <a:xfrm>
            <a:off x="4475746" y="1572126"/>
            <a:ext cx="2855495" cy="18568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Carbon Modelling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Power, delay, SNM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CO2 emission calculation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A7A7C5-15E1-5F3C-6EDC-D8F9E9071DF3}"/>
              </a:ext>
            </a:extLst>
          </p:cNvPr>
          <p:cNvSpPr/>
          <p:nvPr/>
        </p:nvSpPr>
        <p:spPr>
          <a:xfrm>
            <a:off x="8213555" y="1572126"/>
            <a:ext cx="2855495" cy="20533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Pareto-Based Mode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Turbo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Normal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Eco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Retention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71CF5F-1C36-D6EA-84AD-B4C3747B86CE}"/>
              </a:ext>
            </a:extLst>
          </p:cNvPr>
          <p:cNvSpPr/>
          <p:nvPr/>
        </p:nvSpPr>
        <p:spPr>
          <a:xfrm>
            <a:off x="737936" y="4259178"/>
            <a:ext cx="2855495" cy="2053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Machine Learning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Train predictive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Estimate power, delay, CO2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C5AFFC-B291-A3A9-769E-90E832D47103}"/>
              </a:ext>
            </a:extLst>
          </p:cNvPr>
          <p:cNvSpPr/>
          <p:nvPr/>
        </p:nvSpPr>
        <p:spPr>
          <a:xfrm>
            <a:off x="4475745" y="4259179"/>
            <a:ext cx="2855495" cy="2053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Digital Twin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Dynamic power mode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Workload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Performance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Carbon constraints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B960DD-8629-0E8D-8BA2-AA3F95696F91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3593432" y="2500563"/>
            <a:ext cx="88231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C52E9C-81C7-A387-E6C1-913D807FF07F}"/>
              </a:ext>
            </a:extLst>
          </p:cNvPr>
          <p:cNvCxnSpPr/>
          <p:nvPr/>
        </p:nvCxnSpPr>
        <p:spPr>
          <a:xfrm flipV="1">
            <a:off x="7331241" y="2500563"/>
            <a:ext cx="88231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6E6696-0A85-A0E5-F082-8C1BB780BD33}"/>
              </a:ext>
            </a:extLst>
          </p:cNvPr>
          <p:cNvCxnSpPr/>
          <p:nvPr/>
        </p:nvCxnSpPr>
        <p:spPr>
          <a:xfrm flipV="1">
            <a:off x="3593431" y="5285872"/>
            <a:ext cx="88231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7F5B8FA-6202-F5B9-B4D2-091BBE00CC9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H="1">
            <a:off x="737936" y="2598821"/>
            <a:ext cx="10331114" cy="2687052"/>
          </a:xfrm>
          <a:prstGeom prst="bentConnector5">
            <a:avLst>
              <a:gd name="adj1" fmla="val -2213"/>
              <a:gd name="adj2" fmla="val 50000"/>
              <a:gd name="adj3" fmla="val 1022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60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EFCDCB-CF80-CDE2-50E4-9D1E7DBCD74F}"/>
              </a:ext>
            </a:extLst>
          </p:cNvPr>
          <p:cNvSpPr txBox="1"/>
          <p:nvPr/>
        </p:nvSpPr>
        <p:spPr>
          <a:xfrm>
            <a:off x="1187115" y="659831"/>
            <a:ext cx="88552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Detailed Description</a:t>
            </a:r>
            <a:endParaRPr lang="en-MY" sz="2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04BF4-4E1E-C869-9A9F-60B2A36DFD84}"/>
              </a:ext>
            </a:extLst>
          </p:cNvPr>
          <p:cNvSpPr txBox="1"/>
          <p:nvPr/>
        </p:nvSpPr>
        <p:spPr>
          <a:xfrm>
            <a:off x="850232" y="1449705"/>
            <a:ext cx="48928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MY" b="1" dirty="0"/>
              <a:t>SRAM Simulation</a:t>
            </a:r>
          </a:p>
          <a:p>
            <a:pPr marL="342900" indent="-342900">
              <a:buAutoNum type="arabicPeriod"/>
            </a:pPr>
            <a:endParaRPr lang="en-MY" b="1" dirty="0"/>
          </a:p>
          <a:p>
            <a:r>
              <a:rPr lang="en-MY" b="1" dirty="0"/>
              <a:t>Purpose: </a:t>
            </a:r>
            <a:r>
              <a:rPr lang="en-MY" dirty="0"/>
              <a:t>perform SPICE-based </a:t>
            </a:r>
            <a:r>
              <a:rPr lang="en-MY" dirty="0" err="1"/>
              <a:t>cct</a:t>
            </a:r>
            <a:r>
              <a:rPr lang="en-MY" dirty="0"/>
              <a:t> simulations on a std 6T SRAM cell</a:t>
            </a:r>
          </a:p>
          <a:p>
            <a:endParaRPr lang="en-MY" b="1" dirty="0"/>
          </a:p>
          <a:p>
            <a:r>
              <a:rPr lang="en-MY" b="1" dirty="0"/>
              <a:t>Inputs:</a:t>
            </a:r>
          </a:p>
          <a:p>
            <a:pPr marL="285750" indent="-285750">
              <a:buFontTx/>
              <a:buChar char="-"/>
            </a:pPr>
            <a:r>
              <a:rPr lang="en-MY" dirty="0"/>
              <a:t>Transistor sizing variations</a:t>
            </a:r>
          </a:p>
          <a:p>
            <a:pPr marL="285750" indent="-285750">
              <a:buFontTx/>
              <a:buChar char="-"/>
            </a:pPr>
            <a:r>
              <a:rPr lang="en-MY" dirty="0"/>
              <a:t>VDD</a:t>
            </a:r>
          </a:p>
          <a:p>
            <a:endParaRPr lang="en-MY" dirty="0"/>
          </a:p>
          <a:p>
            <a:r>
              <a:rPr lang="en-MY" b="1" dirty="0"/>
              <a:t>Outputs:</a:t>
            </a:r>
          </a:p>
          <a:p>
            <a:pPr marL="285750" indent="-285750">
              <a:buFontTx/>
              <a:buChar char="-"/>
            </a:pPr>
            <a:r>
              <a:rPr lang="en-MY" dirty="0"/>
              <a:t>Dynamic power (switching energy)</a:t>
            </a:r>
          </a:p>
          <a:p>
            <a:pPr marL="285750" indent="-285750">
              <a:buFontTx/>
              <a:buChar char="-"/>
            </a:pPr>
            <a:r>
              <a:rPr lang="en-MY" dirty="0"/>
              <a:t>Leakage power (standby energy)</a:t>
            </a:r>
          </a:p>
          <a:p>
            <a:pPr marL="285750" indent="-285750">
              <a:buFontTx/>
              <a:buChar char="-"/>
            </a:pPr>
            <a:r>
              <a:rPr lang="en-MY" dirty="0"/>
              <a:t>Access delay</a:t>
            </a:r>
          </a:p>
          <a:p>
            <a:pPr marL="285750" indent="-285750">
              <a:buFontTx/>
              <a:buChar char="-"/>
            </a:pPr>
            <a:r>
              <a:rPr lang="en-MY" dirty="0"/>
              <a:t>Static noise margin (SNM)</a:t>
            </a:r>
          </a:p>
          <a:p>
            <a:pPr marL="285750" indent="-285750">
              <a:buFontTx/>
              <a:buChar char="-"/>
            </a:pPr>
            <a:endParaRPr lang="en-MY" dirty="0"/>
          </a:p>
          <a:p>
            <a:r>
              <a:rPr lang="en-MY" b="1" dirty="0"/>
              <a:t>Goal: </a:t>
            </a:r>
            <a:r>
              <a:rPr lang="en-MY" dirty="0"/>
              <a:t>collect accurate electrical </a:t>
            </a:r>
            <a:r>
              <a:rPr lang="en-MY" dirty="0" err="1"/>
              <a:t>behavior</a:t>
            </a:r>
            <a:r>
              <a:rPr lang="en-MY" dirty="0"/>
              <a:t> under diverse operating cond.</a:t>
            </a:r>
            <a:endParaRPr lang="en-MY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76DF-0A56-0ECE-55D1-F6AD88D27E7D}"/>
              </a:ext>
            </a:extLst>
          </p:cNvPr>
          <p:cNvSpPr txBox="1"/>
          <p:nvPr/>
        </p:nvSpPr>
        <p:spPr>
          <a:xfrm>
            <a:off x="6713622" y="1449705"/>
            <a:ext cx="48928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2.   Carbon </a:t>
            </a:r>
            <a:r>
              <a:rPr lang="en-MY" b="1" dirty="0" err="1"/>
              <a:t>Modeling</a:t>
            </a:r>
            <a:r>
              <a:rPr lang="en-MY" b="1" dirty="0"/>
              <a:t> </a:t>
            </a:r>
          </a:p>
          <a:p>
            <a:endParaRPr lang="en-MY" b="1" dirty="0"/>
          </a:p>
          <a:p>
            <a:r>
              <a:rPr lang="en-MY" b="1" dirty="0"/>
              <a:t>Purpose: </a:t>
            </a:r>
            <a:r>
              <a:rPr lang="en-MY" dirty="0"/>
              <a:t>Translate energy consumption into carbon emission</a:t>
            </a:r>
          </a:p>
          <a:p>
            <a:endParaRPr lang="en-MY" b="1" dirty="0"/>
          </a:p>
          <a:p>
            <a:r>
              <a:rPr lang="en-MY" b="1" dirty="0"/>
              <a:t>Inputs:</a:t>
            </a:r>
          </a:p>
          <a:p>
            <a:pPr marL="285750" indent="-285750">
              <a:buFontTx/>
              <a:buChar char="-"/>
            </a:pPr>
            <a:r>
              <a:rPr lang="en-MY" dirty="0"/>
              <a:t>Energy data from simulations</a:t>
            </a:r>
          </a:p>
          <a:p>
            <a:pPr marL="285750" indent="-285750">
              <a:buFontTx/>
              <a:buChar char="-"/>
            </a:pPr>
            <a:r>
              <a:rPr lang="en-MY" dirty="0"/>
              <a:t>Real-world carbon intensity</a:t>
            </a:r>
          </a:p>
          <a:p>
            <a:endParaRPr lang="en-MY" dirty="0"/>
          </a:p>
          <a:p>
            <a:r>
              <a:rPr lang="en-MY" b="1" dirty="0"/>
              <a:t>Outputs:</a:t>
            </a:r>
          </a:p>
          <a:p>
            <a:pPr marL="285750" indent="-285750">
              <a:buFontTx/>
              <a:buChar char="-"/>
            </a:pPr>
            <a:r>
              <a:rPr lang="en-MY" dirty="0"/>
              <a:t>CO2/access</a:t>
            </a:r>
          </a:p>
          <a:p>
            <a:pPr marL="285750" indent="-285750">
              <a:buFontTx/>
              <a:buChar char="-"/>
            </a:pPr>
            <a:r>
              <a:rPr lang="en-MY" dirty="0"/>
              <a:t>CO2/s</a:t>
            </a:r>
          </a:p>
        </p:txBody>
      </p:sp>
    </p:spTree>
    <p:extLst>
      <p:ext uri="{BB962C8B-B14F-4D97-AF65-F5344CB8AC3E}">
        <p14:creationId xmlns:p14="http://schemas.microsoft.com/office/powerpoint/2010/main" val="298617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040CF-BBAC-5DDA-9C4A-4F5A9B17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C3D4A8-842A-D248-7A90-FB3CD8C01EA7}"/>
              </a:ext>
            </a:extLst>
          </p:cNvPr>
          <p:cNvSpPr txBox="1"/>
          <p:nvPr/>
        </p:nvSpPr>
        <p:spPr>
          <a:xfrm>
            <a:off x="1187115" y="659831"/>
            <a:ext cx="88552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Detailed Description</a:t>
            </a:r>
            <a:endParaRPr lang="en-MY" sz="2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CDE15-1F16-9F3F-95BE-00E339CE62D9}"/>
              </a:ext>
            </a:extLst>
          </p:cNvPr>
          <p:cNvSpPr txBox="1"/>
          <p:nvPr/>
        </p:nvSpPr>
        <p:spPr>
          <a:xfrm>
            <a:off x="850232" y="1449705"/>
            <a:ext cx="48928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en-MY" b="1" dirty="0"/>
              <a:t>Pareto-based Mode Classification</a:t>
            </a:r>
          </a:p>
          <a:p>
            <a:endParaRPr lang="en-MY" b="1" dirty="0"/>
          </a:p>
          <a:p>
            <a:r>
              <a:rPr lang="en-MY" b="1" dirty="0"/>
              <a:t>Purpose: </a:t>
            </a:r>
            <a:r>
              <a:rPr lang="en-MY" dirty="0"/>
              <a:t>use pareto analysis to assign each design point into 1 of 4 SRAM power modes</a:t>
            </a:r>
          </a:p>
          <a:p>
            <a:endParaRPr lang="en-MY" b="1" dirty="0"/>
          </a:p>
          <a:p>
            <a:r>
              <a:rPr lang="en-MY" b="1" dirty="0"/>
              <a:t>Inputs:</a:t>
            </a:r>
          </a:p>
          <a:p>
            <a:pPr marL="285750" indent="-285750">
              <a:buFontTx/>
              <a:buChar char="-"/>
            </a:pPr>
            <a:r>
              <a:rPr lang="en-MY" dirty="0"/>
              <a:t>3 performance metrics: power, delay, CO2/access</a:t>
            </a:r>
          </a:p>
          <a:p>
            <a:endParaRPr lang="en-MY" dirty="0"/>
          </a:p>
          <a:p>
            <a:r>
              <a:rPr lang="en-MY" b="1" dirty="0"/>
              <a:t>Classification Targets:</a:t>
            </a:r>
          </a:p>
          <a:p>
            <a:pPr marL="285750" indent="-285750">
              <a:buFontTx/>
              <a:buChar char="-"/>
            </a:pPr>
            <a:r>
              <a:rPr lang="en-MY" dirty="0"/>
              <a:t>Turbo (high speed, high power, high CO2)</a:t>
            </a:r>
          </a:p>
          <a:p>
            <a:pPr marL="285750" indent="-285750">
              <a:buFontTx/>
              <a:buChar char="-"/>
            </a:pPr>
            <a:r>
              <a:rPr lang="en-MY" dirty="0"/>
              <a:t>Normal (balanced)</a:t>
            </a:r>
          </a:p>
          <a:p>
            <a:pPr marL="285750" indent="-285750">
              <a:buFontTx/>
              <a:buChar char="-"/>
            </a:pPr>
            <a:r>
              <a:rPr lang="en-MY" dirty="0"/>
              <a:t>Eco (low power, moderate delay)</a:t>
            </a:r>
          </a:p>
          <a:p>
            <a:pPr marL="285750" indent="-285750">
              <a:buFontTx/>
              <a:buChar char="-"/>
            </a:pPr>
            <a:r>
              <a:rPr lang="en-MY" dirty="0"/>
              <a:t>Retention (min leakage, high delay)</a:t>
            </a:r>
          </a:p>
          <a:p>
            <a:pPr marL="285750" indent="-285750">
              <a:buFontTx/>
              <a:buChar char="-"/>
            </a:pPr>
            <a:endParaRPr lang="en-MY" dirty="0"/>
          </a:p>
          <a:p>
            <a:r>
              <a:rPr lang="en-MY" b="1" dirty="0"/>
              <a:t>Output: </a:t>
            </a:r>
            <a:r>
              <a:rPr lang="en-MY" dirty="0"/>
              <a:t>design map showing which sizing/ VDD combos fall into which mode</a:t>
            </a:r>
            <a:endParaRPr lang="en-MY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629DE4-E12C-CBD1-B8D4-FE61361E8247}"/>
              </a:ext>
            </a:extLst>
          </p:cNvPr>
          <p:cNvSpPr txBox="1"/>
          <p:nvPr/>
        </p:nvSpPr>
        <p:spPr>
          <a:xfrm>
            <a:off x="6713622" y="1449705"/>
            <a:ext cx="48928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"/>
            </a:pPr>
            <a:r>
              <a:rPr lang="en-MY" b="1" dirty="0"/>
              <a:t>Machine Learning Model</a:t>
            </a:r>
          </a:p>
          <a:p>
            <a:endParaRPr lang="en-MY" b="1" dirty="0"/>
          </a:p>
          <a:p>
            <a:r>
              <a:rPr lang="en-MY" b="1" dirty="0"/>
              <a:t>Purpose: </a:t>
            </a:r>
            <a:r>
              <a:rPr lang="en-MY" dirty="0"/>
              <a:t>train a model to predict power, delay, and CO2 for new SRAM settings</a:t>
            </a:r>
          </a:p>
          <a:p>
            <a:endParaRPr lang="en-MY" b="1" dirty="0"/>
          </a:p>
          <a:p>
            <a:r>
              <a:rPr lang="en-MY" b="1" dirty="0"/>
              <a:t>Inputs:</a:t>
            </a:r>
          </a:p>
          <a:p>
            <a:pPr marL="285750" indent="-285750">
              <a:buFontTx/>
              <a:buChar char="-"/>
            </a:pPr>
            <a:r>
              <a:rPr lang="en-MY" dirty="0"/>
              <a:t>Dataset from simulation stage (features = VDD, sizing; targets = power, delay, CO2)</a:t>
            </a:r>
          </a:p>
          <a:p>
            <a:pPr marL="285750" indent="-285750">
              <a:buFontTx/>
              <a:buChar char="-"/>
            </a:pPr>
            <a:endParaRPr lang="en-MY" dirty="0"/>
          </a:p>
          <a:p>
            <a:r>
              <a:rPr lang="en-MY" b="1" dirty="0"/>
              <a:t>Models:</a:t>
            </a:r>
          </a:p>
          <a:p>
            <a:r>
              <a:rPr lang="en-MY" dirty="0"/>
              <a:t>- Choose most suitable one (polynomial, random forest, etc)</a:t>
            </a:r>
          </a:p>
          <a:p>
            <a:endParaRPr lang="en-MY" dirty="0"/>
          </a:p>
          <a:p>
            <a:r>
              <a:rPr lang="en-MY" b="1" dirty="0"/>
              <a:t>Outputs:</a:t>
            </a:r>
          </a:p>
          <a:p>
            <a:pPr marL="285750" indent="-285750">
              <a:buFontTx/>
              <a:buChar char="-"/>
            </a:pPr>
            <a:r>
              <a:rPr lang="en-MY" dirty="0"/>
              <a:t>Trained predictive model</a:t>
            </a:r>
          </a:p>
          <a:p>
            <a:pPr marL="285750" indent="-285750">
              <a:buFontTx/>
              <a:buChar char="-"/>
            </a:pPr>
            <a:r>
              <a:rPr lang="en-MY" dirty="0"/>
              <a:t>Used for fast estimation in system simulations</a:t>
            </a:r>
          </a:p>
        </p:txBody>
      </p:sp>
    </p:spTree>
    <p:extLst>
      <p:ext uri="{BB962C8B-B14F-4D97-AF65-F5344CB8AC3E}">
        <p14:creationId xmlns:p14="http://schemas.microsoft.com/office/powerpoint/2010/main" val="94057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C53C9-ABB2-2F0D-ACF9-6CC49E48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721E7A-072D-FB6B-86D3-19EFD0F67189}"/>
              </a:ext>
            </a:extLst>
          </p:cNvPr>
          <p:cNvSpPr txBox="1"/>
          <p:nvPr/>
        </p:nvSpPr>
        <p:spPr>
          <a:xfrm>
            <a:off x="1187115" y="659831"/>
            <a:ext cx="88552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Detailed Description</a:t>
            </a:r>
            <a:endParaRPr lang="en-MY" sz="2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11A15-221E-155B-E1DF-94A1FD8BDEB3}"/>
              </a:ext>
            </a:extLst>
          </p:cNvPr>
          <p:cNvSpPr txBox="1"/>
          <p:nvPr/>
        </p:nvSpPr>
        <p:spPr>
          <a:xfrm>
            <a:off x="850232" y="1449705"/>
            <a:ext cx="48928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5"/>
            </a:pPr>
            <a:r>
              <a:rPr lang="en-MY" b="1" dirty="0"/>
              <a:t>Digital Twin Simulation</a:t>
            </a:r>
          </a:p>
          <a:p>
            <a:endParaRPr lang="en-MY" b="1" dirty="0"/>
          </a:p>
          <a:p>
            <a:r>
              <a:rPr lang="en-MY" b="1" dirty="0"/>
              <a:t>Purpose: </a:t>
            </a:r>
            <a:r>
              <a:rPr lang="en-MY" dirty="0"/>
              <a:t>use ML model to simulate syst.-level SRAM </a:t>
            </a:r>
            <a:r>
              <a:rPr lang="en-MY" dirty="0" err="1"/>
              <a:t>behavior</a:t>
            </a:r>
            <a:r>
              <a:rPr lang="en-MY" dirty="0"/>
              <a:t> in real time under dynamic cond.</a:t>
            </a:r>
          </a:p>
          <a:p>
            <a:endParaRPr lang="en-MY" b="1" dirty="0"/>
          </a:p>
          <a:p>
            <a:r>
              <a:rPr lang="en-MY" b="1" dirty="0"/>
              <a:t>Functionality:</a:t>
            </a:r>
          </a:p>
          <a:p>
            <a:pPr marL="285750" indent="-285750">
              <a:buFontTx/>
              <a:buChar char="-"/>
            </a:pPr>
            <a:r>
              <a:rPr lang="en-MY" dirty="0"/>
              <a:t>Predict SRAM </a:t>
            </a:r>
            <a:r>
              <a:rPr lang="en-MY" dirty="0" err="1"/>
              <a:t>behavior</a:t>
            </a:r>
            <a:r>
              <a:rPr lang="en-MY" dirty="0"/>
              <a:t> under  new workloads</a:t>
            </a:r>
          </a:p>
          <a:p>
            <a:pPr marL="285750" indent="-285750">
              <a:buFontTx/>
              <a:buChar char="-"/>
            </a:pPr>
            <a:r>
              <a:rPr lang="en-MY" dirty="0"/>
              <a:t>Choose best power mode based on:</a:t>
            </a:r>
          </a:p>
          <a:p>
            <a:pPr marL="400050" indent="-400050">
              <a:buAutoNum type="romanLcParenR"/>
            </a:pPr>
            <a:r>
              <a:rPr lang="en-MY" dirty="0"/>
              <a:t>Performance demand</a:t>
            </a:r>
          </a:p>
          <a:p>
            <a:pPr marL="400050" indent="-400050">
              <a:buAutoNum type="romanLcParenR"/>
            </a:pPr>
            <a:r>
              <a:rPr lang="en-MY" dirty="0"/>
              <a:t>Current grid carbon intensity</a:t>
            </a:r>
          </a:p>
          <a:p>
            <a:endParaRPr lang="en-MY" dirty="0"/>
          </a:p>
          <a:p>
            <a:r>
              <a:rPr lang="en-MY" b="1" dirty="0"/>
              <a:t>Use Case:</a:t>
            </a:r>
          </a:p>
          <a:p>
            <a:pPr marL="285750" indent="-285750">
              <a:buFontTx/>
              <a:buChar char="-"/>
            </a:pPr>
            <a:r>
              <a:rPr lang="en-MY" dirty="0"/>
              <a:t>Enables real-time mode switching in SRAM systems</a:t>
            </a:r>
          </a:p>
          <a:p>
            <a:pPr marL="285750" indent="-285750">
              <a:buFontTx/>
              <a:buChar char="-"/>
            </a:pPr>
            <a:r>
              <a:rPr lang="en-MY" dirty="0"/>
              <a:t>Emulates hardware </a:t>
            </a:r>
            <a:r>
              <a:rPr lang="en-MY" dirty="0" err="1"/>
              <a:t>behavior</a:t>
            </a:r>
            <a:r>
              <a:rPr lang="en-MY" dirty="0"/>
              <a:t> without full SPICE re-simulation</a:t>
            </a:r>
          </a:p>
        </p:txBody>
      </p:sp>
    </p:spTree>
    <p:extLst>
      <p:ext uri="{BB962C8B-B14F-4D97-AF65-F5344CB8AC3E}">
        <p14:creationId xmlns:p14="http://schemas.microsoft.com/office/powerpoint/2010/main" val="88847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363</Words>
  <Application>Microsoft Office PowerPoint</Application>
  <PresentationFormat>Widescreen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CHAN YAN QUAN</dc:creator>
  <cp:lastModifiedBy>ALEX CHAN YAN QUAN</cp:lastModifiedBy>
  <cp:revision>2</cp:revision>
  <dcterms:created xsi:type="dcterms:W3CDTF">2026-02-13T11:10:25Z</dcterms:created>
  <dcterms:modified xsi:type="dcterms:W3CDTF">2026-02-13T17:21:17Z</dcterms:modified>
</cp:coreProperties>
</file>